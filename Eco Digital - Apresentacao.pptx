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0" y="91440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ENGENHARIA DE SOFTWARE EDUCATIVO · 2026.1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ECEDF6"/>
                </a:solidFill>
                <a:latin typeface="Calibri"/>
              </a:defRPr>
            </a:pPr>
            <a:r>
              <a:t>Eco Digital</a:t>
            </a:r>
          </a:p>
          <a:p>
            <a:pPr algn="ctr">
              <a:defRPr sz="3600" b="1">
                <a:solidFill>
                  <a:srgbClr val="67E8C5"/>
                </a:solidFill>
                <a:latin typeface="Calibri"/>
              </a:defRPr>
            </a:pPr>
            <a:r>
              <a:t>O Labirinto da Reputação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A7ADC8"/>
                </a:solidFill>
                <a:latin typeface="Calibri"/>
              </a:defRPr>
            </a:pPr>
            <a:r>
              <a:t>Protótipo de jogo educativo sobre cyberbullying para adolescentes de 12 a 17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Arthur Lopes  ·  Marcos Pierre  ·  João Lucas  ·  Jeová Bezerra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05 de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16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C93B8A"/>
                </a:solidFill>
                <a:latin typeface="Consolas"/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Cyberbullying no Brasil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00400" cy="18288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  <a:defRPr sz="5200" b="1">
                <a:solidFill>
                  <a:srgbClr val="F0A05A"/>
                </a:solidFill>
                <a:latin typeface="Calibri"/>
              </a:defRPr>
            </a:pPr>
            <a:r>
              <a:t>37%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dos adolescentes brasileiros já sofreram cyberbullying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A7ADC8"/>
                </a:solidFill>
                <a:latin typeface="Calibri"/>
              </a:defRPr>
            </a:pPr>
            <a:r>
              <a:t>Fonte: UNICEF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828800"/>
            <a:ext cx="3200400" cy="18288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400"/>
              </a:spcAft>
              <a:defRPr sz="4400" b="1">
                <a:solidFill>
                  <a:srgbClr val="F0A05A"/>
                </a:solidFill>
                <a:latin typeface="Calibri"/>
              </a:defRPr>
            </a:pPr>
            <a:r>
              <a:t>1 em 5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crianças já passou por violência digital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A7ADC8"/>
                </a:solidFill>
                <a:latin typeface="Calibri"/>
              </a:defRPr>
            </a:pPr>
            <a:r>
              <a:t>Fonte: TIC Kids Online Brasil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4023360" cy="18288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FF5D6C"/>
                </a:solidFill>
                <a:latin typeface="Calibri"/>
              </a:defRPr>
            </a:pPr>
            <a:r>
              <a:t>Impactos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Ansiedade e depressão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Queda de autoestima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Abandono escolar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Risco de automutilação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11064240" cy="128016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5D6C"/>
                </a:solidFill>
                <a:latin typeface="Calibri"/>
              </a:defRPr>
            </a:pPr>
            <a:r>
              <a:t>Agravante digital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Atinge a vítima 24h por dia, se espalha rápido e o agressor pode agir sob anonimato. No Brasil, a Lei 14.811/2024 tornou hediondo o crime de indução ao suicídio contra menores.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8FF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67E8C5"/>
                </a:solidFill>
                <a:latin typeface="Consolas"/>
              </a:defRPr>
            </a:pPr>
            <a: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O que é o Eco Digital?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7ADC8"/>
                </a:solidFill>
                <a:latin typeface="Calibri"/>
              </a:defRPr>
            </a:pPr>
            <a:r>
              <a:t>Jogo educativo de plataforma 2D + puzzle, single-player, baseado em navegador. Zero dependências — basta abrir o HTML.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3474720" cy="219456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🌍  3 Mundos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Mundo 1: Feed (rede social)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Mundo 2: Chat (mensageiro)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Mundo 3: Fórum anônimo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Cada mundo: 3 fases + 1 chefão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377440"/>
            <a:ext cx="3474720" cy="219456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🎮  12 Fases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Progressão linear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Dificuldade crescente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Chefões com mecânica própria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Medalhas (bronze/prata/ouro)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3474720" cy="219456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🧩  6 Tipos de Puzzle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 — Rede de Apoio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B — Frase (ataque vs. fato)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C — Identificar a Lei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D — Ordem da Denúncia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E — Empatia em Diálogo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F — Reconstruir Mensagem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11064240" cy="9144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BD49A"/>
                </a:solidFill>
                <a:latin typeface="Calibri"/>
              </a:defRPr>
            </a:pPr>
            <a:r>
              <a:t>Reconhecer  →  Documentar  →  Agir  →  Denunciar  →  Restaurar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O jogador segue essa jornada em cada mundo, aprendendo que o enfrentamento ao cyberbullying é progressivo.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Círculo Mágico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7ADC8"/>
                </a:solidFill>
                <a:latin typeface="Calibri"/>
              </a:defRPr>
            </a:pPr>
            <a:r>
              <a:t>Conceito de Johan Huizinga (1938) — espaço temporário onde as regras do mundo real são suspensas e as regras do jogo prevalecem.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03520" cy="329184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400"/>
              </a:spcAft>
              <a:defRPr sz="1800" b="1">
                <a:solidFill>
                  <a:srgbClr val="FF5D6C"/>
                </a:solidFill>
                <a:latin typeface="Calibri"/>
              </a:defRPr>
            </a:pPr>
            <a:r>
              <a:t>Mundo Real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Cyberbullying → Medo, vergonha, isolamento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Consequência → Dano emocional permanente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Papel → Vítima passiva ou espectador omisso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Saída → Não há saída fácil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303520" cy="329184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400"/>
              </a:spcAft>
              <a:defRPr sz="1800" b="1">
                <a:solidFill>
                  <a:srgbClr val="67E8C5"/>
                </a:solidFill>
                <a:latin typeface="Calibri"/>
              </a:defRPr>
            </a:pPr>
            <a:r>
              <a:t>Mundo do Jogo (Círculo Mágico)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Conflito → Nuvens de Toxicidade (desafios superáveis)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Consequência → Dano à Resiliência (recuperável, retry)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Papel → Agente ativo que denuncia e resolve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Saída → Completar a fase = restaurar o ambiente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BD49A"/>
                </a:solidFill>
                <a:latin typeface="Calibri"/>
              </a:defRPr>
            </a:pPr>
            <a:r>
              <a:t>O adolescente experimenta o cyberbullying de forma segura — sente a pressão, mas dentro de limites controláveis. A empatia com a situação é real; o risco é simulado.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Mecânicas do Jogo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Regras e sistemas com os quais o jogador interage (Hunicke, LeBlanc &amp; Zubek, 2004)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67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A1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Resiliência Emocional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Barra de vida. Cyberbullying consome saúde mental; proteger-se é estratégia, não fraqueza.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16352"/>
            <a:ext cx="411480" cy="411480"/>
          </a:xfrm>
          <a:prstGeom prst="ellipse">
            <a:avLst/>
          </a:prstGeom>
          <a:solidFill>
            <a:srgbClr val="67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A1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06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Nuvens → Plataformas Solidárias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Resolver puzzle transforma toxidade em espaço seguro. Ignorar não resolve.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29584"/>
            <a:ext cx="411480" cy="411480"/>
          </a:xfrm>
          <a:prstGeom prst="ellipse">
            <a:avLst/>
          </a:prstGeom>
          <a:solidFill>
            <a:srgbClr val="67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A1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83864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6 Puzzles de Reparação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Rede de apoio, frase, lei, ordem, empatia e reconstrução — cada um ensina algo específico.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42816"/>
            <a:ext cx="411480" cy="411480"/>
          </a:xfrm>
          <a:prstGeom prst="ellipse">
            <a:avLst/>
          </a:prstGeom>
          <a:solidFill>
            <a:srgbClr val="67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A1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9709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Prints de Segurança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Colecionáveis que desbloqueiam conteúdo educativo real (leis, canais, estatísticas).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956048"/>
            <a:ext cx="411480" cy="411480"/>
          </a:xfrm>
          <a:prstGeom prst="ellipse">
            <a:avLst/>
          </a:prstGeom>
          <a:solidFill>
            <a:srgbClr val="67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A1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103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Progressão Linear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Reconhecer → agir → denunciar. Não se pula etapas no enfrentamento.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669280"/>
            <a:ext cx="411480" cy="411480"/>
          </a:xfrm>
          <a:prstGeom prst="ellipse">
            <a:avLst/>
          </a:prstGeom>
          <a:solidFill>
            <a:srgbClr val="67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A1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23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CEDF6"/>
                </a:solidFill>
                <a:latin typeface="Calibri"/>
              </a:defRPr>
            </a:pPr>
            <a:r>
              <a:t>Medalhas e Rejogabilidade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Bronze (completou), Prata (protegeu resiliência), Ouro (coletou tudo). Incentiva aprofundar.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Jogabilidade Educacional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BD49A"/>
                </a:solidFill>
                <a:latin typeface="Calibri"/>
              </a:defRPr>
            </a:pPr>
            <a:r>
              <a:t>O conteúdo não é separado da jogabilidade — o jogador aprende jogando, não lendo (Prensky, 2001; Gee, 2003)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F2D3"/>
                          </a:solidFill>
                          <a:latin typeface="Calibri"/>
                        </a:defRPr>
                      </a:pPr>
                      <a:r>
                        <a:t>Mecânica</a:t>
                      </a:r>
                    </a:p>
                  </a:txBody>
                  <a:tcPr>
                    <a:solidFill>
                      <a:srgbClr val="121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F2D3"/>
                          </a:solidFill>
                          <a:latin typeface="Calibri"/>
                        </a:defRPr>
                      </a:pPr>
                      <a:r>
                        <a:t>O que o jogador FAZ</a:t>
                      </a:r>
                    </a:p>
                  </a:txBody>
                  <a:tcPr>
                    <a:solidFill>
                      <a:srgbClr val="121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F2D3"/>
                          </a:solidFill>
                          <a:latin typeface="Calibri"/>
                        </a:defRPr>
                      </a:pPr>
                      <a:r>
                        <a:t>O que APRENDE</a:t>
                      </a:r>
                    </a:p>
                  </a:txBody>
                  <a:tcPr>
                    <a:solidFill>
                      <a:srgbClr val="1218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Resiliência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Gerencia recurso, evita dano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Cyberbullying consome saúde mental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Nuvens → Solidárias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Resolve puzzle para transformar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Enfrentar com conhecimento resolve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Puzzle A — Rede de Apoio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Ordena a cadeia de apoio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Existe sequência de proteção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Puzzle B — Frase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Classifica ataque vs. fato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Crítica ≠ ataque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Puzzle C — Lei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Escolhe a lei aplicável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Há leis que protegem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Puzzle D — Denúncia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Ordena os passos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Há protocolo a seguir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Puzzle E — Empatia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Escolhe resposta empática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Escutar e validar &gt; conselhos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Puzzle F — Reconstruir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Monta mensagem de apoio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Palavras certas constroem</a:t>
                      </a:r>
                    </a:p>
                  </a:txBody>
                  <a:tcPr>
                    <a:solidFill>
                      <a:srgbClr val="0E12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Prints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Coleta provas pelo nível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A7ADC8"/>
                          </a:solidFill>
                          <a:latin typeface="Calibri"/>
                        </a:defRPr>
                      </a:pPr>
                      <a:r>
                        <a:t>Print é prova documental</a:t>
                      </a:r>
                    </a:p>
                  </a:txBody>
                  <a:tcPr>
                    <a:solidFill>
                      <a:srgbClr val="0B0F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8FF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67E8C5"/>
                </a:solidFill>
                <a:latin typeface="Consolas"/>
              </a:defRPr>
            </a:pPr>
            <a:r>
              <a:t>PROTÓTIPO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Telas do Jogo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918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🏠  Tela Inicial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Título, descrição e botões</a:t>
            </a:r>
            <a:br/>
            <a:r>
              <a:t>Jogar, Como Jogar, Sobre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2918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🗺️  Mapa-Múndi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3 mundos com 4 fases cada.</a:t>
            </a:r>
            <a:br/>
            <a:r>
              <a:t>Navegação por nós.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⚔️  Gameplay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Canvas 2D: plataforma, pulo,</a:t>
            </a:r>
            <a:br/>
            <a:r>
              <a:t>inimigos, nuvens, power-ups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32918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🧩  Painel de Reparação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6 tipos de puzzle educativo</a:t>
            </a:r>
            <a:br/>
            <a:r>
              <a:t>interativos com verificação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931920"/>
            <a:ext cx="32918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🏆  Resultado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Medalhas (bronze/prata/ouro)</a:t>
            </a:r>
            <a:br/>
            <a:r>
              <a:t>e checklist de objetivos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2918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📁  Acervo de Provas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20 cards educativos:</a:t>
            </a:r>
            <a:br/>
            <a:r>
              <a:t>leis, dados, canais, histórias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8FF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67E8C5"/>
                </a:solidFill>
                <a:latin typeface="Consolas"/>
              </a:defRPr>
            </a:pPr>
            <a:r>
              <a:t>PROTÓTIPO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Interface durante o jogo (HUD)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Barra de Resiliência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Saúde mental do adolescente no jogo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Dano: inimigos, toxidade, erros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Zerar = esgotamento (restart)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Proteger-se é estratégia, não fraqueza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FBD49A"/>
                </a:solidFill>
                <a:latin typeface="Calibri"/>
              </a:defRPr>
            </a:pPr>
            <a:r>
              <a:t>Mini-mapa e Timer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Posição do jogador e nuvens no nível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Timer em fases de viralização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Simula urgência — fofocas se espalham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530352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FBD49A"/>
                </a:solidFill>
                <a:latin typeface="Calibri"/>
              </a:defRPr>
            </a:pPr>
            <a:r>
              <a:t>Prints de Segurança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Contador de provas coletadas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Cada print desbloqueia conteúdo no Acervo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Print = prova documental (primeiro passo)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30352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Power-ups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Escudo de Empatia — absorve 1 ataque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Bloqueio Temporário — congela inimigos 5s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Aliado — atrai haters por 10s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Print Dourado — vale 5 prints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69280"/>
            <a:ext cx="11064240" cy="64008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7ADC8"/>
                </a:solidFill>
                <a:latin typeface="Consolas"/>
              </a:defRPr>
            </a:pPr>
            <a:r>
              <a:t>Controles: ← → mover · Espaço pular · E interagir · M mudo · Esc voltar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8FF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67E8C5"/>
                </a:solidFill>
                <a:latin typeface="Consolas"/>
              </a:defRPr>
            </a:pPr>
            <a:r>
              <a:t>CONTEÚDO INTEGRADO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O que o jogo ensina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237744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Legislação Brasileira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ECA — proteção integral online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Lei 13.185/2015 — bullying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Lei 14.811/2024 — crime hediondo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Lei Carolina Dieckmann — vazamento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474720" cy="237744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Canais de Denúncia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SaferNet — denúncia anônima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Disque 100 — Direitos Humanos 24h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CVV 188 — apoio emocional 24h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Polícia Federal — crimes cibernéticos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474720" cy="237744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Habilidades Socioemocionais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Separar crítica de ataque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Praticar empatia ativa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Pedir ajuda como estratégia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Não responder com ódio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Acionar adulto não é 'X9'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1064240" cy="16459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Aft>
                <a:spcPts val="400"/>
              </a:spcAft>
              <a:defRPr sz="1600" b="1">
                <a:solidFill>
                  <a:srgbClr val="FBD49A"/>
                </a:solidFill>
                <a:latin typeface="Calibri"/>
              </a:defRPr>
            </a:pPr>
            <a:r>
              <a:t>Protocolo de Denúncia (Puzzle D)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400" b="1">
                <a:solidFill>
                  <a:srgbClr val="ECEDF6"/>
                </a:solidFill>
                <a:latin typeface="Calibri"/>
              </a:defRPr>
            </a:pPr>
            <a:r>
              <a:t>① Tirar print  →  ② Bloquear o agressor  →  ③ Denunciar na plataforma  →  ④ Contar para um responsável  →  ⑤ Acionar canal externo (SaferNet, Disque 100, PF)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O jogador pratica essa ordem múltiplas vezes ao longo do jogo — internaliza o protocolo pela repetição.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BD49A"/>
                </a:solidFill>
                <a:latin typeface="Calibri"/>
              </a:defRPr>
            </a:pPr>
            <a:r>
              <a:t>Abrir o jogo no navegador e demonstrar o fluxo completo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03520" cy="32004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Roteiro sugerido (~1 min)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1. Tela inicial → Como Jogar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2. Mapa-Múndi → Selecionar fase 1-1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3. Gameplay: andar, pular, coletar print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4. Aproximar da Nuvem de Toxicidade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5. Pressionar E → Abrir Painel de Reparação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6. Resolver o puzzle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7. Ver a nuvem virar Plataforma Solidária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8. Acervo de Provas desbloqueado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303520" cy="32004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400"/>
              </a:spcAft>
              <a:defRPr sz="1600" b="1">
                <a:solidFill>
                  <a:srgbClr val="FBD49A"/>
                </a:solidFill>
                <a:latin typeface="Calibri"/>
              </a:defRPr>
            </a:pPr>
            <a:r>
              <a:t>Pontos a destacar na demonstração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→ A resiliência diminui perto de nuvens tóxicas (efeito sonoro + visual)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→ O puzzle ensina conteúdo real (classificar ataque vs. fato)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→ A nuvem resolvida vira caminho seguro (metáfora: denunciar transforma o espaço)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→ O print desbloqueia card no Acervo com lei, dado ou canal real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→ Chefão final: reunir provas + resolver puzzle = denúncia formal aceita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Articulação dos Conceitos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91840" cy="25603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Aft>
                <a:spcPts val="400"/>
              </a:spcAft>
              <a:defRPr sz="1800" b="1">
                <a:solidFill>
                  <a:srgbClr val="FBD49A"/>
                </a:solidFill>
                <a:latin typeface="Calibri"/>
              </a:defRPr>
            </a:pPr>
            <a:r>
              <a:t>Círculo Mágico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Espaço seguro onde o adolescente experimenta o cyberbullying sem consequências reais. A empatia é real; o risco é simulado.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2560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A7ADC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2743200" cy="25603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Aft>
                <a:spcPts val="400"/>
              </a:spcAft>
              <a:defRPr sz="1800" b="1">
                <a:solidFill>
                  <a:srgbClr val="67E8C5"/>
                </a:solidFill>
                <a:latin typeface="Calibri"/>
              </a:defRPr>
            </a:pPr>
            <a:r>
              <a:t>Mecânicas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Resiliência, puzzles, prints, progressão — regras que simulam a experiência real de enfrentamento ao cyberbullying.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560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A7ADC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3291840" cy="256032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Aft>
                <a:spcPts val="400"/>
              </a:spcAft>
              <a:defRPr sz="1800" b="1">
                <a:solidFill>
                  <a:srgbClr val="F6C64A"/>
                </a:solidFill>
                <a:latin typeface="Calibri"/>
              </a:defRPr>
            </a:pPr>
            <a:r>
              <a:t>Aprendizagem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O jogador internaliza leis, canais, protocolos e empatia pela ação — não pela leitura.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1064240" cy="146304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Aft>
                <a:spcPts val="400"/>
              </a:spcAft>
              <a:defRPr sz="1400" b="1">
                <a:solidFill>
                  <a:srgbClr val="ECEDF6"/>
                </a:solidFill>
                <a:latin typeface="Calibri"/>
              </a:defRPr>
            </a:pPr>
            <a:r>
              <a:t>Quando o círculo mágico se fecha (tela de Vitória), o jogador leva para o mundo real: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A7ADC8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Leis que protegem  ·  Canais que funcionam  ·  Protocolo que pode seguir  ·  Empatia como prática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ENCAMINHAMENTO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Próximos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03520" cy="27432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Curto Prazo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Persistência com localStorage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Suporte a touch/mobile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Testes com público-alvo (12-17 anos)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Acessibilidade (ARIA labels, contraste)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Mais variação de puzzles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27432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FBD49A"/>
                </a:solidFill>
                <a:latin typeface="Calibri"/>
              </a:defRPr>
            </a:pPr>
            <a:r>
              <a:t>Médio Prazo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Novos mundos e tipos de puzzle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Dashboard do professor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Localização (inglês, espanhol)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Avaliação de impacto educacional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Deploy como PWA (funciona offline)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064240" cy="109728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400"/>
              </a:spcAft>
              <a:defRPr sz="1600" b="1">
                <a:solidFill>
                  <a:srgbClr val="9AF2D3"/>
                </a:solidFill>
                <a:latin typeface="Calibri"/>
              </a:defRPr>
            </a:pPr>
            <a:r>
              <a:t>Tecnologia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Arquivo HTML único (~3000 linhas), zero dependências externas, Canvas 2D nativo, Web Audio API sintetizado. Funciona em qualquer navegador, sem instalação, sem internet após download.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/>
          </a:prstGeom>
          <a:noFill/>
          <a:ln w="12700">
            <a:solidFill>
              <a:srgbClr val="FF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F0A05A"/>
                </a:solidFill>
                <a:latin typeface="Consolas"/>
              </a:defRPr>
            </a:pPr>
            <a: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ECEDF6"/>
                </a:solidFill>
                <a:latin typeface="Calibri"/>
              </a:defRPr>
            </a:pPr>
            <a:r>
              <a:t>Referências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7432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Teoria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HUIZINGA, J. Homo Ludens. 1938.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SALEN, K.; ZIMMERMAN, E. Rules of Play. MIT Press, 2004.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HUNICKE, R. et al. MDA: A Formal Approach to Game Design. AAAI, 2004.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SICART, M. Defining Game Mechanics. Game Studies, 2008.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303520" cy="2743200"/>
          </a:xfrm>
          <a:prstGeom prst="roundRect">
            <a:avLst/>
          </a:prstGeom>
          <a:solidFill>
            <a:srgbClr val="0E1228"/>
          </a:solidFill>
          <a:ln w="12700">
            <a:solidFill>
              <a:srgbClr val="232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1400" b="1">
                <a:solidFill>
                  <a:srgbClr val="9AF2D3"/>
                </a:solidFill>
                <a:latin typeface="Calibri"/>
              </a:defRPr>
            </a:pPr>
            <a:r>
              <a:t>Prática e Legislação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GEE, J. P. What Video Games Have to Teach Us. 2003.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PRENSKY, M. Digital Game-Based Learning. 2001.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UNICEF. Estado Mundial da Infância 2017.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7ADC8"/>
                </a:solidFill>
                <a:latin typeface="Calibri"/>
              </a:defRPr>
            </a:pPr>
            <a:r>
              <a:t>• Brasil. Lei 13.185/2015; Lei 14.811/2024; ECA (Lei 8.069/1990).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ECEDF6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67E8C5"/>
                </a:solidFill>
                <a:latin typeface="Calibri"/>
              </a:defRPr>
            </a:pPr>
            <a:r>
              <a:t>Eco Digital: O Labirinto da Reputação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ECEDF6"/>
                </a:solidFill>
                <a:latin typeface="Calibri"/>
              </a:defRPr>
            </a:pPr>
            <a:r>
              <a:t>Arthur Lopes  ·  Marcos Pierre  ·  João Lucas  ·  Jeová Bezerra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A7ADC8"/>
                </a:solidFill>
                <a:latin typeface="Calibri"/>
              </a:defRPr>
            </a:pPr>
            <a:r>
              <a:t>Engenharia de Software Educativo · 2026.1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A7ADC8"/>
                </a:solidFill>
                <a:latin typeface="Calibri"/>
              </a:defRPr>
            </a:pPr>
            <a:r>
              <a:t>05 de junho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